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572000"/>
            <a:ext cx="2743200" cy="2743200"/>
          </a:xfrm>
          <a:prstGeom prst="ellipse">
            <a:avLst/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1554479"/>
            <a:ext cx="1554480" cy="15544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89819" y="2053285"/>
            <a:ext cx="595274" cy="5568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85094" y="2209208"/>
            <a:ext cx="345643" cy="40094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23499" y="2242620"/>
            <a:ext cx="172821" cy="167060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85832" y="2509918"/>
            <a:ext cx="172821" cy="172821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61903" y="2509918"/>
            <a:ext cx="172821" cy="172821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3383279"/>
            <a:ext cx="1554480" cy="1554480"/>
          </a:xfrm>
          <a:prstGeom prst="ellipse">
            <a:avLst/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10012680" y="3840480"/>
            <a:ext cx="914400" cy="204825"/>
          </a:xfrm>
          <a:prstGeom prst="triangl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40696" y="4070908"/>
            <a:ext cx="109728" cy="268833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15016" y="4070908"/>
            <a:ext cx="109728" cy="268833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89336" y="4070908"/>
            <a:ext cx="109728" cy="268833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49255" y="4365345"/>
            <a:ext cx="841248" cy="102412"/>
          </a:xfrm>
          <a:prstGeom prst="roundRect">
            <a:avLst>
              <a:gd name="adj" fmla="val 3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469880" y="3127248"/>
            <a:ext cx="0" cy="658367"/>
          </a:xfrm>
          <a:prstGeom prst="bentConnector3">
            <a:avLst/>
          </a:prstGeom>
          <a:ln w="27940">
            <a:solidFill>
              <a:srgbClr val="14B8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13258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ERPNEXT  ·  FINANCE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69164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E-Commerce COD Accounting &amp;</a:t>
            </a:r>
          </a:p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5EEAD4"/>
                </a:solidFill>
                <a:latin typeface="Georgia"/>
              </a:rPr>
              <a:t>Payout Reconciliation in ERPNext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3822191"/>
            <a:ext cx="1280160" cy="0"/>
          </a:xfrm>
          <a:prstGeom prst="bentConnector3">
            <a:avLst/>
          </a:prstGeom>
          <a:ln w="3810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06908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Transitioning from manual accounting errors to automated,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correct cash-in-transit clearing.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EEAD4"/>
                </a:solidFill>
                <a:latin typeface="Calibri"/>
              </a:rPr>
              <a:t>Cash-in-Transit Clearing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8064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EEAD4"/>
                </a:solidFill>
                <a:latin typeface="Calibri"/>
              </a:rPr>
              <a:t>Shiprocket Payouts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58064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EEAD4"/>
                </a:solidFill>
                <a:latin typeface="Calibri"/>
              </a:rPr>
              <a:t>Automated Reconciliation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Why the Naïve Postings Are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783080"/>
            <a:ext cx="457200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783080"/>
            <a:ext cx="109728" cy="4343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The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4069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75569"/>
                </a:solidFill>
                <a:latin typeface="Calibri"/>
              </a:rPr>
              <a:t>Booking COD sales directly to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Supplier Payables (Creditors)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treats the courier like a vendor you owe — it isn't.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4069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75569"/>
                </a:solidFill>
                <a:latin typeface="Calibri"/>
              </a:rPr>
              <a:t>Raising an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early Payment Entry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closes the customer before cash exists, so the receivable is cleared against money still sitting with the courier.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440680"/>
            <a:ext cx="4069080" cy="502920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clean home for </a:t>
            </a:r>
            <a:r>
              <a:rPr sz="1200" b="1" i="0">
                <a:solidFill>
                  <a:srgbClr val="E14B4B"/>
                </a:solidFill>
                <a:latin typeface="Calibri"/>
              </a:rPr>
              <a:t>cash-in-transit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783080"/>
            <a:ext cx="3063240" cy="2075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2011679"/>
            <a:ext cx="676656" cy="676656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998464" y="2139696"/>
            <a:ext cx="384048" cy="38404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1359" y="2285634"/>
            <a:ext cx="138257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A4A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057400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Tax audit mismatches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834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Revenue and receivable timing no longer tie out to filed returns.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783080"/>
            <a:ext cx="3063240" cy="2075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9992" y="2011679"/>
            <a:ext cx="676656" cy="676656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9226295" y="2139696"/>
            <a:ext cx="384048" cy="38404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9191" y="2285634"/>
            <a:ext cx="138257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A4A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057400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Cash-in-transit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834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No ledger shows money the courier is holding on your behalf.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4023360"/>
            <a:ext cx="3063240" cy="2075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0" y="4251960"/>
            <a:ext cx="676656" cy="676656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5998464" y="4379976"/>
            <a:ext cx="384048" cy="38404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1359" y="4525914"/>
            <a:ext cx="138257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A4A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4297680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Unreconciled bulk payouts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9592" y="507492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One NEFT covers many AWBs — impossible to match line by 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51392" y="4023360"/>
            <a:ext cx="3063240" cy="2075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79992" y="4251960"/>
            <a:ext cx="676656" cy="676656"/>
          </a:xfrm>
          <a:prstGeom prst="ellipse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9226295" y="4379976"/>
            <a:ext cx="384048" cy="38404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9191" y="4525914"/>
            <a:ext cx="138257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A4A"/>
                </a:solidFill>
                <a:latin typeface="Calibri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297680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Unexpensed freight fees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507492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Courier deductions vanish instead of hitting a shipping expense.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DOCUMENT FLOW  ·  DISPATCHED → TRANSIT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Georgia"/>
              </a:rPr>
              <a:t>The End-to-End Document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737360"/>
            <a:ext cx="19933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3727" y="1737360"/>
            <a:ext cx="1993392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8319" y="19202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8319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148943" y="2350008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7726" y="2496312"/>
            <a:ext cx="365394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36189" y="2604942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36189" y="2703697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36189" y="2802453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" y="32918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Sales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" y="3611879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SAL-ORD-2026-00206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55" y="3950208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Rahul Mandal places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COD order — ₹708.00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38831" y="3081528"/>
            <a:ext cx="329184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1439" y="1737360"/>
            <a:ext cx="19933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1439" y="1737360"/>
            <a:ext cx="199339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96031" y="1920240"/>
            <a:ext cx="384048" cy="384048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6031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3416655" y="2350008"/>
            <a:ext cx="822960" cy="82296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81247" y="2600004"/>
            <a:ext cx="306141" cy="2863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87388" y="2680194"/>
            <a:ext cx="177759" cy="206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07139" y="2697377"/>
            <a:ext cx="88879" cy="85917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0625" y="2834844"/>
            <a:ext cx="88879" cy="88879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26890" y="2834844"/>
            <a:ext cx="88879" cy="88879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2879" y="32918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Delivery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6303" y="3611879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DN-26-00294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1167" y="3950208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Warehouse packs &amp;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ships the parcel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806543" y="3081528"/>
            <a:ext cx="329184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99151" y="1737360"/>
            <a:ext cx="19933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99151" y="1737360"/>
            <a:ext cx="1993392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63743" y="19202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3743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5684367" y="2350008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13150" y="2496312"/>
            <a:ext cx="365394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71613" y="2604942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71613" y="2703697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71613" y="2802453"/>
            <a:ext cx="248468" cy="3456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0591" y="32918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Sales Invoice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4015" y="3611879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SINV-26-00164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8879" y="3950208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DR Debtors-ZV ₹708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CR Revenue ₹708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074255" y="3081528"/>
            <a:ext cx="329184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66863" y="1737360"/>
            <a:ext cx="19933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6863" y="1737360"/>
            <a:ext cx="199339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31455" y="1920240"/>
            <a:ext cx="384048" cy="384048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1455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Oval 47"/>
          <p:cNvSpPr/>
          <p:nvPr/>
        </p:nvSpPr>
        <p:spPr>
          <a:xfrm>
            <a:off x="7952079" y="2350008"/>
            <a:ext cx="822960" cy="82296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16671" y="2600004"/>
            <a:ext cx="306141" cy="2863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22812" y="2680194"/>
            <a:ext cx="177759" cy="206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442563" y="2697377"/>
            <a:ext cx="88879" cy="85917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66049" y="2834844"/>
            <a:ext cx="88879" cy="88879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62314" y="2834844"/>
            <a:ext cx="88879" cy="88879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8303" y="32918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Shipment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1727" y="3611879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SHIPMENT-00097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6591" y="3950208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Shiprocket booked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AWB 14112367213922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9341967" y="3081528"/>
            <a:ext cx="329184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634575" y="1737360"/>
            <a:ext cx="19933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34575" y="1737360"/>
            <a:ext cx="1993392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799167" y="192024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99167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2" name="Oval 61"/>
          <p:cNvSpPr/>
          <p:nvPr/>
        </p:nvSpPr>
        <p:spPr>
          <a:xfrm>
            <a:off x="10219791" y="2350008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 rot="2700000">
            <a:off x="10483138" y="2753075"/>
            <a:ext cx="148132" cy="5925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 rot="18600000">
            <a:off x="10581894" y="2654320"/>
            <a:ext cx="271576" cy="5925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26015" y="32918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COD Document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9439" y="3611879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Calibri"/>
              </a:rPr>
              <a:t>COD-2026-00044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44303" y="3950208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Auto-created +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Draft JE linked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3727" y="498348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47191" y="5193792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 rot="2700000">
            <a:off x="1088593" y="5539800"/>
            <a:ext cx="115214" cy="460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 rot="18600000">
            <a:off x="1165402" y="5462991"/>
            <a:ext cx="211226" cy="460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98167" y="5120640"/>
            <a:ext cx="9555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Shipment submit auto-creates the COD doc + a </a:t>
            </a:r>
            <a:r>
              <a:rPr sz="1300" b="1" i="0">
                <a:solidFill>
                  <a:srgbClr val="5EEAD4"/>
                </a:solidFill>
                <a:latin typeface="Calibri"/>
              </a:rPr>
              <a:t>Draft Journal Entry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. An accountant clicks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“Verify COD”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to post </a:t>
            </a:r>
            <a:r>
              <a:rPr sz="1300" b="1" i="0">
                <a:solidFill>
                  <a:srgbClr val="5EEAD4"/>
                </a:solidFill>
                <a:latin typeface="Calibri"/>
              </a:rPr>
              <a:t>DR COD–ZV ₹708 / CR Debtors ₹708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The ₹708 now lives as </a:t>
            </a:r>
            <a:r>
              <a:rPr sz="1300" b="1" i="0">
                <a:solidFill>
                  <a:srgbClr val="5EEAD4"/>
                </a:solidFill>
                <a:latin typeface="Calibri"/>
              </a:rPr>
              <a:t>Cash-in-Transit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under the COD – ZV clearing account — not yet in the bank.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STATUS LIFECYCLE  ·  THE VERIFY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Georgia"/>
              </a:rPr>
              <a:t>How a COD Document Moves to “Paid”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711" y="1828800"/>
            <a:ext cx="2542032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711" y="1828800"/>
            <a:ext cx="2542032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711" y="184708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031" y="2487168"/>
            <a:ext cx="1993391" cy="38404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2487168"/>
            <a:ext cx="19933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48B"/>
                </a:solidFill>
                <a:latin typeface="Calibri"/>
              </a:rPr>
              <a:t>On shipment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" y="3035808"/>
            <a:ext cx="2139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COD document is created from the shipment, AWB &amp; linked docs.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41167" y="29489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1791" y="1828800"/>
            <a:ext cx="2542032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1791" y="1828800"/>
            <a:ext cx="2542032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1791" y="184708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6111" y="2487168"/>
            <a:ext cx="1993391" cy="38404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6111" y="2487168"/>
            <a:ext cx="19933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D9488"/>
                </a:solidFill>
                <a:latin typeface="Calibri"/>
              </a:rPr>
              <a:t>Draft JE linked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959" y="3035808"/>
            <a:ext cx="2139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System posts a draft DR COD–ZV / CR Debtors and links it.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67247" y="29489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7871" y="1828800"/>
            <a:ext cx="2542032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7871" y="1828800"/>
            <a:ext cx="2542032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184708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Journal Submitted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2191" y="2487168"/>
            <a:ext cx="1993391" cy="38404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191" y="2487168"/>
            <a:ext cx="19933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4B8A6"/>
                </a:solidFill>
                <a:latin typeface="Calibri"/>
              </a:rPr>
              <a:t>Verify COD clicked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3035808"/>
            <a:ext cx="2139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Accountant verifies; Sales Invoice re-checked &amp; JE submitted.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93327" y="29489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3951" y="1828800"/>
            <a:ext cx="2542032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3951" y="1828800"/>
            <a:ext cx="2542032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3951" y="184708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Paid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8271" y="2487168"/>
            <a:ext cx="1993391" cy="38404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8271" y="2487168"/>
            <a:ext cx="19933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Payout reconciled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5119" y="3035808"/>
            <a:ext cx="2139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PE Wizard or CSV tool matches the payout and clears transit.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711" y="4892040"/>
            <a:ext cx="11320272" cy="96012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711" y="4892040"/>
            <a:ext cx="109728" cy="960120"/>
          </a:xfrm>
          <a:prstGeom prst="rect">
            <a:avLst/>
          </a:prstGeom>
          <a:solidFill>
            <a:srgbClr val="E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4039" y="5065775"/>
            <a:ext cx="603504" cy="603504"/>
          </a:xfrm>
          <a:prstGeom prst="ellipse">
            <a:avLst/>
          </a:prstGeom>
          <a:solidFill>
            <a:srgbClr val="E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892911" y="5166359"/>
            <a:ext cx="365760" cy="36576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954" y="5305348"/>
            <a:ext cx="13167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14B4B"/>
                </a:solidFill>
                <a:latin typeface="Calibri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8711" y="5010912"/>
            <a:ext cx="99486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14B4B"/>
                </a:solidFill>
                <a:latin typeface="Calibri"/>
              </a:rPr>
              <a:t>Cancelled —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cancelling the shipment auto-cancels a submitted JE (or deletes a draft one) and marks the COD Cancelled.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A COD that is already </a:t>
            </a:r>
            <a:r>
              <a:rPr sz="1250" b="1" i="0">
                <a:solidFill>
                  <a:srgbClr val="E14B4B"/>
                </a:solidFill>
                <a:latin typeface="Calibri"/>
              </a:rPr>
              <a:t>Paid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cannot be cancelled — the system blocks it to protect reconciled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BULK PAYOUT SETTLEMENT  ·  THE BUSINESS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Georgia"/>
              </a:rPr>
              <a:t>One NEFT, Many AWBs, Net of Fees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737360"/>
            <a:ext cx="48920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737360"/>
            <a:ext cx="109728" cy="4389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Calibri"/>
              </a:rPr>
              <a:t>Shiprocket settles in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bulk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— e.g. a single </a:t>
            </a:r>
            <a:r>
              <a:rPr sz="1350" b="1" i="0">
                <a:solidFill>
                  <a:srgbClr val="0D9488"/>
                </a:solidFill>
                <a:latin typeface="Calibri"/>
              </a:rPr>
              <a:t>₹5,000 NEFT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 covering many AWBs, paid </a:t>
            </a:r>
            <a:r>
              <a:rPr sz="1350" b="1" i="0">
                <a:solidFill>
                  <a:srgbClr val="1E293B"/>
                </a:solidFill>
                <a:latin typeface="Calibri"/>
              </a:rPr>
              <a:t>net of freight fees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063240"/>
            <a:ext cx="1371600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Gross COD
₹708.00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06324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64748B"/>
                </a:solidFill>
                <a:latin typeface="Calibri"/>
              </a:rPr>
              <a:t>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063240"/>
            <a:ext cx="1371600" cy="6400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Freight fee
₹103.36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06324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931920"/>
            <a:ext cx="3246120" cy="64008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3192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Net deposited to bank   </a:t>
            </a:r>
            <a:r>
              <a:rPr sz="1600" b="1" i="0">
                <a:solidFill>
                  <a:srgbClr val="16A34A"/>
                </a:solidFill>
                <a:latin typeface="Calibri"/>
              </a:rPr>
              <a:t>₹604.64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548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Reconciliation must split that one deposit back into </a:t>
            </a:r>
            <a:r>
              <a:rPr sz="1200" b="1" i="0">
                <a:solidFill>
                  <a:srgbClr val="475569"/>
                </a:solidFill>
                <a:latin typeface="Calibri"/>
              </a:rPr>
              <a:t>bank, expense and cleared transit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73736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Calibri"/>
              </a:rPr>
              <a:t>Balanced Ledger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957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Settlement for AWB 14112367213922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26080"/>
            <a:ext cx="4846320" cy="457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9260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5EEAD4"/>
                </a:solidFill>
                <a:latin typeface="Calibri"/>
              </a:rPr>
              <a:t>Debit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9260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5EEAD4"/>
                </a:solidFill>
                <a:latin typeface="Calibri"/>
              </a:rPr>
              <a:t>Credit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83280"/>
            <a:ext cx="73152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747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SBI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856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Net payout received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383280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E293B"/>
                </a:solidFill>
                <a:latin typeface="Calibri"/>
              </a:rPr>
              <a:t>₹604.64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383280"/>
            <a:ext cx="960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096512"/>
            <a:ext cx="4846320" cy="713232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096512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879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Freight &amp; Forwarding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988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Shipping expense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096512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E293B"/>
                </a:solidFill>
                <a:latin typeface="Calibri"/>
              </a:rPr>
              <a:t>₹103.36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096512"/>
            <a:ext cx="960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809744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809744"/>
            <a:ext cx="73152" cy="7132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011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COD – ZV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120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Transit cleared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809744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809744"/>
            <a:ext cx="960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E293B"/>
                </a:solidFill>
                <a:latin typeface="Calibri"/>
              </a:rPr>
              <a:t>₹708.00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522976"/>
            <a:ext cx="484632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52297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A34A"/>
                </a:solidFill>
                <a:latin typeface="Calibri"/>
              </a:rPr>
              <a:t>Balanced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522976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₹708.00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522976"/>
            <a:ext cx="960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₹708.00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METHOD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45720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Georgia"/>
              </a:rPr>
              <a:t>The Interactive Payment Entry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Manual, accountant-driven workflow — best for ad-hoc or partial settlements.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731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1901952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810512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Open a new Payment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73936"/>
            <a:ext cx="6400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Set Type = Receive — the wizard button appears only on a draft receipt.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96896"/>
            <a:ext cx="10607040" cy="731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27614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761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67004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Fetch Pending COD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33472"/>
            <a:ext cx="6400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Lists every COD in “Journal Submitted” state in a searchable picker (AWB, COD ref, invoice or customer) with a select-all toggle.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56432"/>
            <a:ext cx="10607040" cy="731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621024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621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529584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Tick the AWBs to 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93008"/>
            <a:ext cx="6400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Choose the shipments covered by this payout; gross COD and freight are shown per row.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5968"/>
            <a:ext cx="10607040" cy="731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8408" y="4480559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3891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System auto-fills the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352544"/>
            <a:ext cx="6400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Injects COD–ZV as Paid-From (bypassing the payable filter), adds one reference row per linked Journal Entry, sets the net amount, and books freight to the Deductions 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75504"/>
            <a:ext cx="10607040" cy="731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8" y="5340096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3400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248656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212080"/>
            <a:ext cx="6400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Posting the Payment Entry clears transit, debits the bank, and flips each matched COD to “Paid.”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METHOD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45720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Georgia"/>
              </a:rPr>
              <a:t>The Automated CSV Reconciliation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Hands-off, bulk workflow — best for weekly settlements covering many AWBs.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303" y="1828800"/>
            <a:ext cx="254203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303" y="1828800"/>
            <a:ext cx="254203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3183" y="2029968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183" y="2029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459839" y="233172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02155" y="2496312"/>
            <a:ext cx="33832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742754" y="2633472"/>
            <a:ext cx="257130" cy="0"/>
          </a:xfrm>
          <a:prstGeom prst="bentConnector3">
            <a:avLst/>
          </a:prstGeom>
          <a:ln w="15240">
            <a:solidFill>
              <a:srgbClr val="1E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42754" y="2724912"/>
            <a:ext cx="257130" cy="0"/>
          </a:xfrm>
          <a:prstGeom prst="bentConnector3">
            <a:avLst/>
          </a:prstGeom>
          <a:ln w="15240">
            <a:solidFill>
              <a:srgbClr val="1E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42754" y="2816352"/>
            <a:ext cx="257130" cy="0"/>
          </a:xfrm>
          <a:prstGeom prst="bentConnector3">
            <a:avLst/>
          </a:prstGeom>
          <a:ln w="15240">
            <a:solidFill>
              <a:srgbClr val="1E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37486" y="2578608"/>
            <a:ext cx="0" cy="292607"/>
          </a:xfrm>
          <a:prstGeom prst="bentConnector3">
            <a:avLst/>
          </a:prstGeom>
          <a:ln w="15240">
            <a:solidFill>
              <a:srgbClr val="1E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4895" y="3273552"/>
            <a:ext cx="22128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libri"/>
              </a:rPr>
              <a:t>Download &amp; 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183" y="3675887"/>
            <a:ext cx="21762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Grab the Sample CSV Template, or use Shiprocket’s own remittance export.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05759" y="3012948"/>
            <a:ext cx="34747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16655" y="1828800"/>
            <a:ext cx="254203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6655" y="1828800"/>
            <a:ext cx="254203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99535" y="2029968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9535" y="2029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4276191" y="233172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18507" y="2496312"/>
            <a:ext cx="33832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640" y="2596896"/>
            <a:ext cx="230063" cy="3200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640" y="2688336"/>
            <a:ext cx="230063" cy="3200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640" y="2779776"/>
            <a:ext cx="230063" cy="32004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1247" y="3273552"/>
            <a:ext cx="22128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libri"/>
              </a:rPr>
              <a:t>Open COD List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9535" y="3675887"/>
            <a:ext cx="21762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Click “Reconcile Shiprocket Payout”, pick the bank account &amp; date, upload.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22111" y="3012948"/>
            <a:ext cx="34747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33007" y="1828800"/>
            <a:ext cx="254203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1828800"/>
            <a:ext cx="254203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15887" y="2029968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887" y="2029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7092543" y="233172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700000">
            <a:off x="7366863" y="2734056"/>
            <a:ext cx="137160" cy="548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 rot="18600000">
            <a:off x="7458303" y="2642616"/>
            <a:ext cx="251460" cy="548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7599" y="3273552"/>
            <a:ext cx="22128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libri"/>
              </a:rPr>
              <a:t>Smart auto-match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5887" y="3675887"/>
            <a:ext cx="21762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Headers auto-detected (AWB / COD / freight / net); AWBs matched, already-paid skipped, unmatched reported.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38463" y="3012948"/>
            <a:ext cx="34747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49359" y="1828800"/>
            <a:ext cx="254203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9359" y="1828800"/>
            <a:ext cx="2542032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32239" y="2029968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2239" y="2029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Oval 44"/>
          <p:cNvSpPr/>
          <p:nvPr/>
        </p:nvSpPr>
        <p:spPr>
          <a:xfrm>
            <a:off x="9908895" y="233172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1775" y="2496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3951" y="3273552"/>
            <a:ext cx="22128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Calibri"/>
              </a:rPr>
              <a:t>One consolidated JE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2239" y="3675887"/>
            <a:ext cx="21762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Posts DR Bank + DR Freight + a credit per shipment, applies &lt;₹5 rounding tolerance, flips matched CODs to “Paid.”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0303" y="4983480"/>
            <a:ext cx="10991088" cy="914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1783" y="502920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5EEAD4"/>
                </a:solidFill>
                <a:latin typeface="Georgia"/>
              </a:rPr>
              <a:t>⚡ 1 sec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97783" y="5138928"/>
            <a:ext cx="0" cy="548640"/>
          </a:xfrm>
          <a:prstGeom prst="bentConnector3">
            <a:avLst/>
          </a:prstGeom>
          <a:ln w="19050">
            <a:solidFill>
              <a:srgbClr val="334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572103" y="5029200"/>
            <a:ext cx="779068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An entire weekly batch — dozens of AWBs — matched, journaled and marked </a:t>
            </a:r>
            <a:r>
              <a:rPr sz="1300" b="1" i="0">
                <a:solidFill>
                  <a:srgbClr val="5EEAD4"/>
                </a:solidFill>
                <a:latin typeface="Calibri"/>
              </a:rPr>
              <a:t>Paid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in about a second, with a rich summary of totals &amp; exceptions.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RELIABILITY  ·  BUILT-IN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Georgia"/>
              </a:rPr>
              <a:t>Controls That Protect the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783080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78308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2075688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213767" y="2222942"/>
            <a:ext cx="205937" cy="188439"/>
          </a:xfrm>
          <a:prstGeom prst="blockArc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5311" y="2376050"/>
            <a:ext cx="302849" cy="235549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7292" y="2442003"/>
            <a:ext cx="58887" cy="58887"/>
          </a:xfrm>
          <a:prstGeom prst="ellipse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1367" y="2148840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Atomic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COD doc and its Journal Entry are created together — a failure rolls back cleanly, never half-posted.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075688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700000">
            <a:off x="4811572" y="2431572"/>
            <a:ext cx="126187" cy="5047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18600000">
            <a:off x="4895697" y="2347447"/>
            <a:ext cx="231343" cy="5047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2148840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Verify before posting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926080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The JE waits in Draft until an accountant clicks “Verify COD,” which re-checks and links the Sales Invoice.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783080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78308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3023" y="2075688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8348471" y="2212848"/>
            <a:ext cx="420624" cy="42062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3071" y="2372685"/>
            <a:ext cx="151424" cy="231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A4A"/>
                </a:solidFill>
                <a:latin typeface="Calibr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148840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Cancel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926080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A shipment whose COD is already Paid cannot be cancelled — reconciled accounts stay intact.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959352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959352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" y="4251959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lock Arc 28"/>
          <p:cNvSpPr/>
          <p:nvPr/>
        </p:nvSpPr>
        <p:spPr>
          <a:xfrm>
            <a:off x="1182136" y="4464832"/>
            <a:ext cx="269199" cy="269199"/>
          </a:xfrm>
          <a:prstGeom prst="blockArc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8000000">
            <a:off x="1156898" y="4473244"/>
            <a:ext cx="109362" cy="109362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7" y="4325112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Auto JE cleanup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102352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Cancelling a shipment auto-cancels a submitted JE or deletes a draft one, keeping books consistent.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3959352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2" y="3959352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0" y="4251959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ck Arc 35"/>
          <p:cNvSpPr/>
          <p:nvPr/>
        </p:nvSpPr>
        <p:spPr>
          <a:xfrm>
            <a:off x="4803160" y="4464832"/>
            <a:ext cx="269199" cy="269199"/>
          </a:xfrm>
          <a:prstGeom prst="blockArc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8000000">
            <a:off x="4777922" y="4473244"/>
            <a:ext cx="109362" cy="109362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22392" y="4325112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Payment-Entry rollback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5102352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Cancelling a Payment Entry reverts every matched COD from “Paid” back to “Journal Submitted.”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1856" y="3959352"/>
            <a:ext cx="3456432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91856" y="3959352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93023" y="4251959"/>
            <a:ext cx="731520" cy="731520"/>
          </a:xfrm>
          <a:prstGeom prst="ellipse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1" y="43891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Calibri"/>
              </a:rPr>
              <a:t>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3416" y="4325112"/>
            <a:ext cx="22677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Smart matching &amp; tolerance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102352"/>
            <a:ext cx="2953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Duplicate / already-paid AWBs are skipped, unmatched ones reported, and a &lt;₹5 rounding gap auto-adjusts.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0D9488"/>
                </a:solidFill>
                <a:latin typeface="Calibri"/>
              </a:rPr>
              <a:t>SIDE-BY-SIDE  · 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Georgia"/>
              </a:rPr>
              <a:t>Choosing the Right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45920"/>
            <a:ext cx="1965960" cy="54864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15768" y="1645920"/>
            <a:ext cx="253746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53228" y="1645920"/>
            <a:ext cx="253746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15768" y="1645920"/>
            <a:ext cx="25374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Method A</a:t>
            </a:r>
          </a:p>
          <a:p>
            <a:pPr algn="ctr"/>
            <a:r>
              <a:rPr sz="950" b="0" i="0">
                <a:solidFill>
                  <a:srgbClr val="5EEAD4"/>
                </a:solidFill>
                <a:latin typeface="Calibri"/>
              </a:rPr>
              <a:t>PE Wizard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3228" y="1645920"/>
            <a:ext cx="25374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Method B</a:t>
            </a:r>
          </a:p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CSV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94560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15768" y="2194560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3228" y="2194560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194560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Manual AWB checkboxes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2956" y="2194560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Shiprocket remittance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761488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15768" y="2761488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3228" y="2761488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6148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Document 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2761488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One Payment 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956" y="2761488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One Settlement Journal Entry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3328416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5768" y="3328416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3228" y="3328416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2841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Freight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3328416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Deductions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2956" y="3328416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DR Freight line in the 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3895344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15768" y="3895344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53228" y="3895344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95344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Processing 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496" y="3895344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Per-payout, hands-on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2956" y="3895344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Whole batch in ~1 second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462272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15768" y="4462272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53228" y="4462272"/>
            <a:ext cx="25374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462272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Safety / rollback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5496" y="4462272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PE-cancel reverts CODs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2956" y="4462272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Skips paid, reports unmatched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5029200"/>
            <a:ext cx="196596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15768" y="5029200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53228" y="5029200"/>
            <a:ext cx="25374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2920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Calibri"/>
              </a:rPr>
              <a:t>Best use 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25496" y="5029200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Ad-hoc / partial payouts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2956" y="5029200"/>
            <a:ext cx="23180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Bulk weekly settlements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1645920"/>
            <a:ext cx="3337560" cy="44805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  <a:effectLst/>
          <a:effectLst>
            <a:outerShdw blurRad="127000" dist="50800" dir="5400000" rotWithShape="0">
              <a:srgbClr val="1E29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02751" y="1837943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 rot="2700000">
            <a:off x="8544153" y="2183952"/>
            <a:ext cx="115214" cy="460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18600000">
            <a:off x="8620963" y="2107143"/>
            <a:ext cx="211226" cy="460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1874519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50" name="Oval 49"/>
          <p:cNvSpPr/>
          <p:nvPr/>
        </p:nvSpPr>
        <p:spPr>
          <a:xfrm>
            <a:off x="8458200" y="2926079"/>
            <a:ext cx="146304" cy="146304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19" y="28346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Calibri"/>
              </a:rPr>
              <a:t>Consolidate Shiprocket suppliers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19" y="318211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Keep a single courier party so payouts and fees roll up cleanly.</a:t>
            </a:r>
          </a:p>
        </p:txBody>
      </p:sp>
      <p:sp>
        <p:nvSpPr>
          <p:cNvPr id="53" name="Oval 52"/>
          <p:cNvSpPr/>
          <p:nvPr/>
        </p:nvSpPr>
        <p:spPr>
          <a:xfrm>
            <a:off x="8458200" y="3730752"/>
            <a:ext cx="146304" cy="146304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19" y="363931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Calibri"/>
              </a:rPr>
              <a:t>Run monthly reconciliations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19" y="3986784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Close COD–ZV every month so cash-in-transit never drifts.</a:t>
            </a:r>
          </a:p>
        </p:txBody>
      </p:sp>
      <p:sp>
        <p:nvSpPr>
          <p:cNvPr id="56" name="Oval 55"/>
          <p:cNvSpPr/>
          <p:nvPr/>
        </p:nvSpPr>
        <p:spPr>
          <a:xfrm>
            <a:off x="8458200" y="4535424"/>
            <a:ext cx="146304" cy="146304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19" y="444398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Calibri"/>
              </a:rPr>
              <a:t>Default to the CSV tool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19" y="4791456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Reserve the PE Wizard for exceptions and partial payouts.</a:t>
            </a:r>
          </a:p>
        </p:txBody>
      </p:sp>
      <p:sp>
        <p:nvSpPr>
          <p:cNvPr id="59" name="Oval 58"/>
          <p:cNvSpPr/>
          <p:nvPr/>
        </p:nvSpPr>
        <p:spPr>
          <a:xfrm>
            <a:off x="8458200" y="5340096"/>
            <a:ext cx="146304" cy="146304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32519" y="52486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Calibri"/>
              </a:rPr>
              <a:t>Verify promptly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19" y="559612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Clear the Draft-JE queue weekly so payouts always match.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